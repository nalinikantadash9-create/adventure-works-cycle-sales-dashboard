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</p:sldMasterIdLst>
  <p:notesMasterIdLst>
    <p:notesMasterId r:id="rId16"/>
  </p:notesMasterIdLst>
  <p:handoutMasterIdLst>
    <p:handoutMasterId r:id="rId17"/>
  </p:handoutMasterIdLst>
  <p:sldIdLst>
    <p:sldId id="257" r:id="rId5"/>
    <p:sldId id="269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496">
          <p15:clr>
            <a:srgbClr val="A4A3A4"/>
          </p15:clr>
        </p15:guide>
        <p15:guide id="3" orient="horz" pos="2880">
          <p15:clr>
            <a:srgbClr val="A4A3A4"/>
          </p15:clr>
        </p15:guide>
        <p15:guide id="4" orient="horz" pos="1056">
          <p15:clr>
            <a:srgbClr val="A4A3A4"/>
          </p15:clr>
        </p15:guide>
        <p15:guide id="5" orient="horz" pos="3888">
          <p15:clr>
            <a:srgbClr val="A4A3A4"/>
          </p15:clr>
        </p15:guide>
        <p15:guide id="6" orient="horz" pos="240">
          <p15:clr>
            <a:srgbClr val="A4A3A4"/>
          </p15:clr>
        </p15:guide>
        <p15:guide id="7" pos="3839">
          <p15:clr>
            <a:srgbClr val="A4A3A4"/>
          </p15:clr>
        </p15:guide>
        <p15:guide id="8" pos="527">
          <p15:clr>
            <a:srgbClr val="A4A3A4"/>
          </p15:clr>
        </p15:guide>
        <p15:guide id="9" pos="815">
          <p15:clr>
            <a:srgbClr val="A4A3A4"/>
          </p15:clr>
        </p15:guide>
        <p15:guide id="10" pos="6863">
          <p15:clr>
            <a:srgbClr val="A4A3A4"/>
          </p15:clr>
        </p15:guide>
        <p15:guide id="11" pos="6143">
          <p15:clr>
            <a:srgbClr val="A4A3A4"/>
          </p15:clr>
        </p15:guide>
        <p15:guide id="12" pos="470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2496"/>
        <p:guide orient="horz" pos="2880"/>
        <p:guide orient="horz" pos="1056"/>
        <p:guide orient="horz" pos="3888"/>
        <p:guide orient="horz" pos="240"/>
        <p:guide pos="3839"/>
        <p:guide pos="527"/>
        <p:guide pos="815"/>
        <p:guide pos="6863"/>
        <p:guide pos="6143"/>
        <p:guide pos="470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A207F-0F91-42F2-96D0-049C6003623B}" type="datetimeFigureOut">
              <a:rPr lang="en-US"/>
              <a:t>9/17/2026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67D4A-04CB-4EDF-8FB1-342A02FC8EC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01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C13F5-F2B1-464B-BE8F-27ABFBD2FBDE}" type="datetimeFigureOut">
              <a:rPr lang="en-US"/>
              <a:t>9/17/2026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1351F-DBB1-4664-ADA9-83BC7CB8848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36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8539" y="2514601"/>
            <a:ext cx="8913077" cy="2262781"/>
          </a:xfrm>
        </p:spPr>
        <p:txBody>
          <a:bodyPr anchor="b">
            <a:normAutofit/>
          </a:bodyPr>
          <a:lstStyle>
            <a:lvl1pPr>
              <a:defRPr sz="5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8539" y="4777380"/>
            <a:ext cx="8913077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2A58A-F6A3-44B4-8553-CA3EAF252FB7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1"/>
            <a:ext cx="1744198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4529541"/>
            <a:ext cx="779564" cy="365125"/>
          </a:xfrm>
        </p:spPr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4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250" y="624110"/>
            <a:ext cx="8909366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8538" y="2133600"/>
            <a:ext cx="8913078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5BD3E-AD23-4233-B7FD-BCC74AA741B1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0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2058750"/>
            <a:ext cx="8913077" cy="146880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3530129"/>
            <a:ext cx="8913077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5C56-1C19-4454-A6D4-FDB294070137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9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8538" y="2133600"/>
            <a:ext cx="4312741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88874" y="2126222"/>
            <a:ext cx="4312741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EA3F-BC83-4494-8BB2-CF9729692A8C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787783"/>
            <a:ext cx="779564" cy="365125"/>
          </a:xfrm>
        </p:spPr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88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8608" y="1972703"/>
            <a:ext cx="399169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8538" y="2548966"/>
            <a:ext cx="4341762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4674" y="1969475"/>
            <a:ext cx="3997960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5091" y="2545738"/>
            <a:ext cx="433754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CFC3-C38C-4973-9593-9C0AA203E374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787783"/>
            <a:ext cx="779564" cy="365125"/>
          </a:xfrm>
        </p:spPr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2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E9B8-A638-47B9-8EAF-A06FB35BB403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0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414C0-40BC-46FB-ADE3-F7141007B5FB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1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446088"/>
            <a:ext cx="3504286" cy="976312"/>
          </a:xfrm>
        </p:spPr>
        <p:txBody>
          <a:bodyPr anchor="b"/>
          <a:lstStyle>
            <a:lvl1pPr algn="l">
              <a:defRPr sz="19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1365" y="446089"/>
            <a:ext cx="5180251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8" y="1598613"/>
            <a:ext cx="3504286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BC97-2F5E-4770-AEEF-8F2730A3EA80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5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9" y="4800600"/>
            <a:ext cx="891307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8538" y="634965"/>
            <a:ext cx="8913078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367338"/>
            <a:ext cx="891307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10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609600"/>
            <a:ext cx="8913077" cy="311704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4354046"/>
            <a:ext cx="891307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0D41C-F0D3-49F0-8041-67FC705A40C6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547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207" y="609600"/>
            <a:ext cx="8391740" cy="289560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4159" y="3505200"/>
            <a:ext cx="7534591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4354046"/>
            <a:ext cx="891307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0D41C-F0D3-49F0-8041-67FC705A40C6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010" y="648005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1958" y="290530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28069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9" y="2438401"/>
            <a:ext cx="8913078" cy="2724845"/>
          </a:xfrm>
        </p:spPr>
        <p:txBody>
          <a:bodyPr anchor="b">
            <a:normAutofit/>
          </a:bodyPr>
          <a:lstStyle>
            <a:lvl1pPr algn="l">
              <a:defRPr sz="4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0D41C-F0D3-49F0-8041-67FC705A40C6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066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207" y="609600"/>
            <a:ext cx="8391740" cy="289560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8538" y="4343400"/>
            <a:ext cx="8913078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0D41C-F0D3-49F0-8041-67FC705A40C6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010" y="648005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1958" y="290530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667133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627407"/>
            <a:ext cx="8913077" cy="2880020"/>
          </a:xfrm>
        </p:spPr>
        <p:txBody>
          <a:bodyPr anchor="ctr">
            <a:normAutofit/>
          </a:bodyPr>
          <a:lstStyle>
            <a:lvl1pPr algn="l">
              <a:defRPr sz="4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8538" y="4343400"/>
            <a:ext cx="8913078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0D41C-F0D3-49F0-8041-67FC705A40C6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938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513F-1C7D-48A3-9E66-761794785CC6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2392" y="627406"/>
            <a:ext cx="2207026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8538" y="627406"/>
            <a:ext cx="6475313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BC340-5827-402A-ABD7-86B6900F77A8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5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0773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14" y="-786"/>
            <a:ext cx="2356060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32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249" y="624110"/>
            <a:ext cx="8909366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2133600"/>
            <a:ext cx="8913078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58914" y="6130437"/>
            <a:ext cx="1145984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0D41C-F0D3-49F0-8041-67FC705A40C6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8538" y="6135809"/>
            <a:ext cx="76180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674" y="787783"/>
            <a:ext cx="77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99">
                <a:solidFill>
                  <a:srgbClr val="FEFFFF"/>
                </a:solidFill>
              </a:defRPr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15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Adventure Works Cycle Sales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1F014C-33BF-B3F3-7CA1-81FAE3748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41" y="0"/>
            <a:ext cx="3970784" cy="285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28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40060B-7ED8-56C0-D2BC-9939EF0886BF}"/>
              </a:ext>
            </a:extLst>
          </p:cNvPr>
          <p:cNvSpPr txBox="1"/>
          <p:nvPr/>
        </p:nvSpPr>
        <p:spPr>
          <a:xfrm>
            <a:off x="2926060" y="260648"/>
            <a:ext cx="489654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lgerian" panose="04020705040A02060702" pitchFamily="82" charset="0"/>
              </a:rPr>
              <a:t>SUMMARY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120EC1-B8F6-C093-4B33-3C2999D5D894}"/>
              </a:ext>
            </a:extLst>
          </p:cNvPr>
          <p:cNvSpPr txBox="1"/>
          <p:nvPr/>
        </p:nvSpPr>
        <p:spPr>
          <a:xfrm>
            <a:off x="1809935" y="1268760"/>
            <a:ext cx="856895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Bookman Old Style" panose="02050604050505020204" pitchFamily="18" charset="0"/>
              </a:rPr>
              <a:t>The Adventure Works Sales Dashboard provides a comprehensive analysis of the company's sales, profit, customers, products, production costs, and regional performance.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Bookman Old Style" panose="02050604050505020204" pitchFamily="18" charset="0"/>
              </a:rPr>
              <a:t> The business achieved total sales of approximately $29.36 million and total profit of $12.08 million, with a strong profit margin of 41.15%. The analysis shows that 2013 was the strongest sales year, while Q4 and December recorded the highest quarterly and monthly sales respectively.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Bookman Old Style" panose="02050604050505020204" pitchFamily="18" charset="0"/>
              </a:rPr>
              <a:t> Mountain-200 products were among the strongest profit generators, and Black-colored products generated the highest profit by color. The 50+ customer segment contributed the largest share of profit, highlighting an important target market.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Bookman Old Style" panose="02050604050505020204" pitchFamily="18" charset="0"/>
              </a:rPr>
              <a:t> Overall, the dashboard helps management identify profitable products, valuable customers, seasonal trends, and regional opportunities, enabling more informed decisions regarding marketing, inventory, customer retention, and business growth.</a:t>
            </a:r>
            <a:endParaRPr lang="en-IN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49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9F0036-FB97-C261-98D5-745F8B0DC351}"/>
              </a:ext>
            </a:extLst>
          </p:cNvPr>
          <p:cNvSpPr txBox="1"/>
          <p:nvPr/>
        </p:nvSpPr>
        <p:spPr>
          <a:xfrm>
            <a:off x="2926060" y="332656"/>
            <a:ext cx="5184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Algerian" panose="04020705040A02060702" pitchFamily="82" charset="0"/>
              </a:rPr>
              <a:t>KPI( KEY PERFORMANCE INDICATOR)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DB8ACE-0A6F-E68E-1295-00187153F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1864" y="1196752"/>
            <a:ext cx="7272808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Year-wise Sales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Month-wise Sales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Quarter-wise Sales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Product-wise Sales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Customer-wise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Top 10 Products by Profit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Top 10 Customers by Profit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Sales by Region/Country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Sales Amount vs Production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Profit by Age Group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Profit by Color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Top Products by Profit Margin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Sales by Product Category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567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2FFBE1-2ACD-7571-416F-07AE894509AC}"/>
              </a:ext>
            </a:extLst>
          </p:cNvPr>
          <p:cNvSpPr txBox="1"/>
          <p:nvPr/>
        </p:nvSpPr>
        <p:spPr>
          <a:xfrm>
            <a:off x="3502124" y="0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Algerian" panose="04020705040A02060702" pitchFamily="82" charset="0"/>
              </a:rPr>
              <a:t>EXCEL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3B0BFF-4AF2-26B1-1414-83F445A5A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916" y="368660"/>
            <a:ext cx="10558909" cy="644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2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42F379-352E-0E2F-C9A5-3236EC966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916" y="447495"/>
            <a:ext cx="10558909" cy="641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60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9368C2-EAEA-C038-2FB7-A76D4B5E822D}"/>
              </a:ext>
            </a:extLst>
          </p:cNvPr>
          <p:cNvSpPr txBox="1"/>
          <p:nvPr/>
        </p:nvSpPr>
        <p:spPr>
          <a:xfrm>
            <a:off x="4006180" y="0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Algerian" panose="04020705040A02060702" pitchFamily="82" charset="0"/>
              </a:rPr>
              <a:t>POWER BI Dashboard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DDF19-86B2-4BBE-6E5D-BF2512F8E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916" y="404664"/>
            <a:ext cx="10558909" cy="645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4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262635-DF03-5D21-D48E-599EFA819034}"/>
              </a:ext>
            </a:extLst>
          </p:cNvPr>
          <p:cNvSpPr txBox="1"/>
          <p:nvPr/>
        </p:nvSpPr>
        <p:spPr>
          <a:xfrm>
            <a:off x="3574132" y="0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Algerian" panose="04020705040A02060702" pitchFamily="82" charset="0"/>
              </a:rPr>
              <a:t>Tableau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9D2F73-CF25-6D4A-8B51-C95E96E86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916" y="461665"/>
            <a:ext cx="10441161" cy="639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19A5AA-25E7-F5FA-F41C-5C5EE52A7BF6}"/>
              </a:ext>
            </a:extLst>
          </p:cNvPr>
          <p:cNvSpPr txBox="1"/>
          <p:nvPr/>
        </p:nvSpPr>
        <p:spPr>
          <a:xfrm>
            <a:off x="3718148" y="7504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My SQL Script FILE 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E55E41A-3F0B-ED75-7E2D-BCB08A74E2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274504"/>
              </p:ext>
            </p:extLst>
          </p:nvPr>
        </p:nvGraphicFramePr>
        <p:xfrm>
          <a:off x="-170284" y="192170"/>
          <a:ext cx="1728192" cy="1030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204031" imgH="517956" progId="Package">
                  <p:embed/>
                </p:oleObj>
              </mc:Choice>
              <mc:Fallback>
                <p:oleObj name="Packager Shell Object" showAsIcon="1" r:id="rId2" imgW="1204031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70284" y="192170"/>
                        <a:ext cx="1728192" cy="10304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154A889-89F3-288B-F7A4-2C731ACEA9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916" y="390832"/>
            <a:ext cx="9217024" cy="648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43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38AFAF-CC88-0E1E-6292-F3287A0CDC69}"/>
              </a:ext>
            </a:extLst>
          </p:cNvPr>
          <p:cNvSpPr txBox="1"/>
          <p:nvPr/>
        </p:nvSpPr>
        <p:spPr>
          <a:xfrm>
            <a:off x="1917948" y="620688"/>
            <a:ext cx="9433048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</a:rPr>
              <a:t>The </a:t>
            </a:r>
            <a:r>
              <a:rPr lang="en-US" sz="1400" b="1" dirty="0">
                <a:latin typeface="Bookman Old Style" panose="02050604050505020204" pitchFamily="18" charset="0"/>
              </a:rPr>
              <a:t>Adventure Works Cycle Sales Dashboard</a:t>
            </a:r>
            <a:r>
              <a:rPr lang="en-US" sz="1400" dirty="0">
                <a:latin typeface="Bookman Old Style" panose="02050604050505020204" pitchFamily="18" charset="0"/>
              </a:rPr>
              <a:t> provides a comprehensive view of sales performance, profitability, customers, products, regions, and production costs. The dashboards show total sales of approximately </a:t>
            </a:r>
            <a:r>
              <a:rPr lang="en-US" sz="1400" b="1" dirty="0">
                <a:latin typeface="Bookman Old Style" panose="02050604050505020204" pitchFamily="18" charset="0"/>
              </a:rPr>
              <a:t>$29.36M</a:t>
            </a:r>
            <a:r>
              <a:rPr lang="en-US" sz="1400" dirty="0">
                <a:latin typeface="Bookman Old Style" panose="02050604050505020204" pitchFamily="18" charset="0"/>
              </a:rPr>
              <a:t>, total profit of </a:t>
            </a:r>
            <a:r>
              <a:rPr lang="en-US" sz="1400" b="1" dirty="0">
                <a:latin typeface="Bookman Old Style" panose="02050604050505020204" pitchFamily="18" charset="0"/>
              </a:rPr>
              <a:t>$12.08M</a:t>
            </a:r>
            <a:r>
              <a:rPr lang="en-US" sz="1400" dirty="0">
                <a:latin typeface="Bookman Old Style" panose="02050604050505020204" pitchFamily="18" charset="0"/>
              </a:rPr>
              <a:t>, around </a:t>
            </a:r>
            <a:r>
              <a:rPr lang="en-US" sz="1400" b="1" dirty="0">
                <a:latin typeface="Bookman Old Style" panose="02050604050505020204" pitchFamily="18" charset="0"/>
              </a:rPr>
              <a:t>18K customers</a:t>
            </a:r>
            <a:r>
              <a:rPr lang="en-US" sz="1400" dirty="0">
                <a:latin typeface="Bookman Old Style" panose="02050604050505020204" pitchFamily="18" charset="0"/>
              </a:rPr>
              <a:t>, </a:t>
            </a:r>
            <a:r>
              <a:rPr lang="en-US" sz="1400" b="1" dirty="0">
                <a:latin typeface="Bookman Old Style" panose="02050604050505020204" pitchFamily="18" charset="0"/>
              </a:rPr>
              <a:t>60K total quantity</a:t>
            </a:r>
            <a:r>
              <a:rPr lang="en-US" sz="1400" dirty="0">
                <a:latin typeface="Bookman Old Style" panose="02050604050505020204" pitchFamily="18" charset="0"/>
              </a:rPr>
              <a:t>, and a profit margin of approximately </a:t>
            </a:r>
            <a:r>
              <a:rPr lang="en-US" sz="1400" b="1" dirty="0">
                <a:latin typeface="Bookman Old Style" panose="02050604050505020204" pitchFamily="18" charset="0"/>
              </a:rPr>
              <a:t>41.15%</a:t>
            </a:r>
            <a:r>
              <a:rPr lang="en-US" sz="1400" dirty="0">
                <a:latin typeface="Bookman Old Style" panose="02050604050505020204" pitchFamily="18" charset="0"/>
              </a:rPr>
              <a:t>.</a:t>
            </a:r>
          </a:p>
          <a:p>
            <a:r>
              <a:rPr lang="en-US" sz="1400" dirty="0">
                <a:latin typeface="Bookman Old Style" panose="02050604050505020204" pitchFamily="18" charset="0"/>
              </a:rPr>
              <a:t>The year-wise analysis shows that </a:t>
            </a:r>
            <a:r>
              <a:rPr lang="en-US" sz="1400" b="1" dirty="0">
                <a:latin typeface="Bookman Old Style" panose="02050604050505020204" pitchFamily="18" charset="0"/>
              </a:rPr>
              <a:t>2013 was the strongest-performing year</a:t>
            </a:r>
            <a:r>
              <a:rPr lang="en-US" sz="1400" dirty="0">
                <a:latin typeface="Bookman Old Style" panose="02050604050505020204" pitchFamily="18" charset="0"/>
              </a:rPr>
              <a:t>, generating approximately </a:t>
            </a:r>
            <a:r>
              <a:rPr lang="en-US" sz="1400" b="1" dirty="0">
                <a:latin typeface="Bookman Old Style" panose="02050604050505020204" pitchFamily="18" charset="0"/>
              </a:rPr>
              <a:t>$16.35M in sales</a:t>
            </a:r>
            <a:r>
              <a:rPr lang="en-US" sz="1400" dirty="0">
                <a:latin typeface="Bookman Old Style" panose="02050604050505020204" pitchFamily="18" charset="0"/>
              </a:rPr>
              <a:t>, while 2010 and 2014 contributed very little. This indicates that sales performance is highly concentrated in 2013. The monthly trend shows strong growth from January to December, with </a:t>
            </a:r>
            <a:r>
              <a:rPr lang="en-US" sz="1400" b="1" dirty="0">
                <a:latin typeface="Bookman Old Style" panose="02050604050505020204" pitchFamily="18" charset="0"/>
              </a:rPr>
              <a:t>December reaching around $3.21M</a:t>
            </a:r>
            <a:r>
              <a:rPr lang="en-US" sz="1400" dirty="0">
                <a:latin typeface="Bookman Old Style" panose="02050604050505020204" pitchFamily="18" charset="0"/>
              </a:rPr>
              <a:t>, indicating increasing demand toward the end of the year.</a:t>
            </a:r>
          </a:p>
          <a:p>
            <a:r>
              <a:rPr lang="en-US" sz="1400" dirty="0">
                <a:latin typeface="Bookman Old Style" panose="02050604050505020204" pitchFamily="18" charset="0"/>
              </a:rPr>
              <a:t>The product analysis highlights </a:t>
            </a:r>
            <a:r>
              <a:rPr lang="en-US" sz="1400" b="1" dirty="0">
                <a:latin typeface="Bookman Old Style" panose="02050604050505020204" pitchFamily="18" charset="0"/>
              </a:rPr>
              <a:t>Mountain-200 and Road-150 product categories</a:t>
            </a:r>
            <a:r>
              <a:rPr lang="en-US" sz="1400" dirty="0">
                <a:latin typeface="Bookman Old Style" panose="02050604050505020204" pitchFamily="18" charset="0"/>
              </a:rPr>
              <a:t> among the top-performing products by profit. These products should receive greater attention in inventory planning and marketing campaigns. Customer analysis also identifies high-value customers, which can help the company develop loyalty programs and personalized offers.</a:t>
            </a:r>
          </a:p>
          <a:p>
            <a:r>
              <a:rPr lang="en-US" sz="1400" dirty="0">
                <a:latin typeface="Bookman Old Style" panose="02050604050505020204" pitchFamily="18" charset="0"/>
              </a:rPr>
              <a:t>The </a:t>
            </a:r>
            <a:r>
              <a:rPr lang="en-US" sz="1400" b="1" dirty="0">
                <a:latin typeface="Bookman Old Style" panose="02050604050505020204" pitchFamily="18" charset="0"/>
              </a:rPr>
              <a:t>Sales vs Production Cost</a:t>
            </a:r>
            <a:r>
              <a:rPr lang="en-US" sz="1400" dirty="0">
                <a:latin typeface="Bookman Old Style" panose="02050604050505020204" pitchFamily="18" charset="0"/>
              </a:rPr>
              <a:t> analysis shows that sales are significantly higher than production costs in the major years, particularly 2013, indicating strong profitability. However, production costs should continue to be monitored to protect margins.</a:t>
            </a:r>
          </a:p>
          <a:p>
            <a:r>
              <a:rPr lang="en-US" sz="1400" b="1" dirty="0">
                <a:latin typeface="Bookman Old Style" panose="02050604050505020204" pitchFamily="18" charset="0"/>
              </a:rPr>
              <a:t>Project Suggestions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latin typeface="Bookman Old Style" panose="02050604050505020204" pitchFamily="18" charset="0"/>
              </a:rPr>
              <a:t>Focus marketing and inventory strategies on high-profit products.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latin typeface="Bookman Old Style" panose="02050604050505020204" pitchFamily="18" charset="0"/>
              </a:rPr>
              <a:t>Develop loyalty programs for high-value customers.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latin typeface="Bookman Old Style" panose="02050604050505020204" pitchFamily="18" charset="0"/>
              </a:rPr>
              <a:t>Increase promotional activities during high-performing months.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latin typeface="Bookman Old Style" panose="02050604050505020204" pitchFamily="18" charset="0"/>
              </a:rPr>
              <a:t>Analyze low-performing years and regions to identify improvement opportunities.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latin typeface="Bookman Old Style" panose="02050604050505020204" pitchFamily="18" charset="0"/>
              </a:rPr>
              <a:t>Monitor production costs regularly to maintain the current profit margin.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latin typeface="Bookman Old Style" panose="02050604050505020204" pitchFamily="18" charset="0"/>
              </a:rPr>
              <a:t>Add KPI cards for </a:t>
            </a:r>
            <a:r>
              <a:rPr lang="en-US" sz="1400" b="1" dirty="0">
                <a:latin typeface="Bookman Old Style" panose="02050604050505020204" pitchFamily="18" charset="0"/>
              </a:rPr>
              <a:t>Sales Growth %, Profit Growth %, and Cost % of Sales</a:t>
            </a:r>
            <a:r>
              <a:rPr lang="en-US" sz="1400" dirty="0">
                <a:latin typeface="Bookman Old Style" panose="020506040505050202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latin typeface="Bookman Old Style" panose="02050604050505020204" pitchFamily="18" charset="0"/>
              </a:rPr>
              <a:t>Include interactive drill-through pages for </a:t>
            </a:r>
            <a:r>
              <a:rPr lang="en-US" sz="1400" b="1" dirty="0">
                <a:latin typeface="Bookman Old Style" panose="02050604050505020204" pitchFamily="18" charset="0"/>
              </a:rPr>
              <a:t>Product, Customer, and Region</a:t>
            </a:r>
            <a:r>
              <a:rPr lang="en-US" sz="1400" dirty="0">
                <a:latin typeface="Bookman Old Style" panose="02050604050505020204" pitchFamily="18" charset="0"/>
              </a:rPr>
              <a:t> analysis.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latin typeface="Bookman Old Style" panose="02050604050505020204" pitchFamily="18" charset="0"/>
              </a:rPr>
              <a:t>Add forecasting to predict future sales and demand.</a:t>
            </a:r>
          </a:p>
          <a:p>
            <a:endParaRPr lang="en-IN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79718E-1ECB-414E-0940-80FC5F29E8E4}"/>
              </a:ext>
            </a:extLst>
          </p:cNvPr>
          <p:cNvSpPr txBox="1"/>
          <p:nvPr/>
        </p:nvSpPr>
        <p:spPr>
          <a:xfrm>
            <a:off x="4212367" y="114398"/>
            <a:ext cx="3744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Algerian" panose="04020705040A02060702" pitchFamily="82" charset="0"/>
              </a:rPr>
              <a:t>KEY 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337076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FA0011-9495-F98F-C7D7-2990A1AD1B21}"/>
              </a:ext>
            </a:extLst>
          </p:cNvPr>
          <p:cNvSpPr txBox="1"/>
          <p:nvPr/>
        </p:nvSpPr>
        <p:spPr>
          <a:xfrm>
            <a:off x="1845940" y="32859"/>
            <a:ext cx="7992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lgerian" panose="04020705040A02060702" pitchFamily="82" charset="0"/>
              </a:rPr>
              <a:t>BUSINESS RECOMMENDATION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9488BC-D202-29D5-CD70-3CD1FD275D9F}"/>
              </a:ext>
            </a:extLst>
          </p:cNvPr>
          <p:cNvSpPr txBox="1"/>
          <p:nvPr/>
        </p:nvSpPr>
        <p:spPr>
          <a:xfrm>
            <a:off x="1629916" y="908720"/>
            <a:ext cx="1015312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ookman Old Style" panose="02050604050505020204" pitchFamily="18" charset="0"/>
              </a:rPr>
              <a:t>The Adventure Works analysis shows a strong and profitable business with $29.36M in total sales and $12.08M in profit. The analysis identifies 2013 as the strongest sales year and Q4 as the highest-performing quarter. 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Mountain-200 products are among the key profit contributors, while customers aged 50+ represent the most valuable customer segment. 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The dashboard enables management to identify sales trends, control production costs, focus on high-performing products and customers, and make data-driven decisions regarding marketing, inventory and business growth.</a:t>
            </a:r>
            <a:endParaRPr lang="en-IN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99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0E8505-4B60-9C5A-B3D8-E7545FDAF72C}"/>
              </a:ext>
            </a:extLst>
          </p:cNvPr>
          <p:cNvSpPr txBox="1"/>
          <p:nvPr/>
        </p:nvSpPr>
        <p:spPr>
          <a:xfrm>
            <a:off x="1845940" y="2708920"/>
            <a:ext cx="8712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233A7A-BD86-9874-F8B3-522A8CB5A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888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90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427FAC-CD3A-494C-985C-09E26C5EA507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40262f94-9f35-4ac3-9a90-690165a166b7"/>
    <ds:schemaRef ds:uri="a4f35948-e619-41b3-aa29-22878b09cfd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11D6E40-F509-498A-BF02-00C895783B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ED73A5-C2D2-4D49-BB89-167E8E32C9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302</TotalTime>
  <Words>616</Words>
  <Application>Microsoft Office PowerPoint</Application>
  <PresentationFormat>Custom</PresentationFormat>
  <Paragraphs>55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Algerian</vt:lpstr>
      <vt:lpstr>Arial</vt:lpstr>
      <vt:lpstr>Arial Black</vt:lpstr>
      <vt:lpstr>Bookman Old Style</vt:lpstr>
      <vt:lpstr>Century Gothic</vt:lpstr>
      <vt:lpstr>Palatino Linotype</vt:lpstr>
      <vt:lpstr>Wingdings</vt:lpstr>
      <vt:lpstr>Wingdings 3</vt:lpstr>
      <vt:lpstr>Wisp</vt:lpstr>
      <vt:lpstr>Packager Shell Object</vt:lpstr>
      <vt:lpstr>Adventure Works Cycle Sales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Nalinikanta Dash</dc:creator>
  <cp:lastModifiedBy>Nalinikanta Dash</cp:lastModifiedBy>
  <cp:revision>18</cp:revision>
  <dcterms:created xsi:type="dcterms:W3CDTF">2026-08-13T05:30:33Z</dcterms:created>
  <dcterms:modified xsi:type="dcterms:W3CDTF">2026-09-17T12:29:52Z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74063900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